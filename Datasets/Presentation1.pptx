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3BB5B-50E1-4321-B497-6442A0E31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9137F4-604B-48E9-933E-AEECA5311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97617-C5F5-48D1-9BE4-3E53A4C71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1CDA-6D94-4C24-8A6E-D01C6289E15B}" type="datetimeFigureOut">
              <a:rPr lang="en-US" smtClean="0"/>
              <a:t>2026-09-22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38C73-E7C2-4752-A1E5-635022F0C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32EE5-8D74-47D5-A79D-F3FCE9F8E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69E0-E8BE-4423-AC4F-6A54F32AC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468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46B2-FF64-4E1A-9630-97D9EC385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9BBDA-ADDC-4035-AE6B-CD114916F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9FABF-E9C8-4BB9-ABDE-266647904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1CDA-6D94-4C24-8A6E-D01C6289E15B}" type="datetimeFigureOut">
              <a:rPr lang="en-US" smtClean="0"/>
              <a:t>2026-09-22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B6DE6-BA40-4DAD-9A93-7A4DD342B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11B10-592D-4CAE-89CB-005D03FE4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69E0-E8BE-4423-AC4F-6A54F32AC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65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0B4C6-8EE2-4464-BF6A-C52A0A646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FF997-FDE5-4D78-98C8-5ED4A06DD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C8844-8D1F-4AFF-AEC3-8801A30B8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1CDA-6D94-4C24-8A6E-D01C6289E15B}" type="datetimeFigureOut">
              <a:rPr lang="en-US" smtClean="0"/>
              <a:t>2026-09-22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CDCE0-127F-4FDE-9B7C-86B9ADFF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B2BAB-DF33-4681-9455-85C896A80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69E0-E8BE-4423-AC4F-6A54F32AC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64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CBF8-ED3E-4502-B19D-54F860A6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CB00C-C2B5-4DD7-ADAB-C165CE610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D2FFD-FF12-4CC7-BD9E-D26EF9083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93C64-762A-4AC5-AA7A-39072EC79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1CDA-6D94-4C24-8A6E-D01C6289E15B}" type="datetimeFigureOut">
              <a:rPr lang="en-US" smtClean="0"/>
              <a:t>2026-09-22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2EF4E-20C6-499D-A658-E7480535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CF039-4570-4CF3-8ADA-6464E9D5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69E0-E8BE-4423-AC4F-6A54F32AC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64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B8615-85F4-4286-9323-A0ECE98F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580D3-7515-4AE1-B166-D011BF45B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85F45-85BA-4791-9B67-69309CC38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C853F-A611-4A86-9F2E-9BBB347CB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516357-BF09-42BA-B628-9D87B7D6D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818005-B62E-43F9-9B1A-C1E3B4FF6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1CDA-6D94-4C24-8A6E-D01C6289E15B}" type="datetimeFigureOut">
              <a:rPr lang="en-US" smtClean="0"/>
              <a:t>2026-09-22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C18806-7014-4CCB-B69F-56BDBA15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0AC895-7ECD-41A7-A4FF-736F7FA63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69E0-E8BE-4423-AC4F-6A54F32AC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7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0BA2E-9628-4E11-A6F8-AD33E3253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58029-0E09-4931-9525-29AE47F91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1CDA-6D94-4C24-8A6E-D01C6289E15B}" type="datetimeFigureOut">
              <a:rPr lang="en-US" smtClean="0"/>
              <a:t>2026-09-22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E08A9-FEC4-487E-8CBF-355839684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C3D02-624C-4B22-943D-81529F78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69E0-E8BE-4423-AC4F-6A54F32AC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44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7B6769-EB4A-47B9-A831-E99167BA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1CDA-6D94-4C24-8A6E-D01C6289E15B}" type="datetimeFigureOut">
              <a:rPr lang="en-US" smtClean="0"/>
              <a:t>2026-09-22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9BFD6-8612-415C-84D0-228952040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E0261-13A8-4786-80BD-B9108B81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69E0-E8BE-4423-AC4F-6A54F32AC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217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1090B-F94F-47C1-A3F5-6967CFEAA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38761-9439-4785-A2FE-DFB1091B0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6FF38-80AB-4E15-B44C-67816211C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09B30-4F2A-444F-8969-2EC65F091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1CDA-6D94-4C24-8A6E-D01C6289E15B}" type="datetimeFigureOut">
              <a:rPr lang="en-US" smtClean="0"/>
              <a:t>2026-09-22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6BDC2-685C-40BE-937C-31F065780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EAF2F-EBC5-42EC-8A7D-8A0EA20F2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69E0-E8BE-4423-AC4F-6A54F32AC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38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474A1-AE09-48BD-ABA4-D70C24B1F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0E7D04-5B69-4D2C-8431-AFDE8E89D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A0FBB-FDE6-456D-807F-7AB79918B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1ABB0-EB7E-40A4-8F08-E530971A9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1CDA-6D94-4C24-8A6E-D01C6289E15B}" type="datetimeFigureOut">
              <a:rPr lang="en-US" smtClean="0"/>
              <a:t>2026-09-22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E5C36-A657-4441-8E3D-3F241E2A8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E3597-613B-4DB9-A003-1E8706F2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69E0-E8BE-4423-AC4F-6A54F32AC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97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61A68-C2EB-4964-94F4-7083CF448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A1A2BF-0DCF-4A80-8254-D1A4A5B97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402AE-346F-4C9B-9532-44869579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1CDA-6D94-4C24-8A6E-D01C6289E15B}" type="datetimeFigureOut">
              <a:rPr lang="en-US" smtClean="0"/>
              <a:t>2026-09-22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FE2DA-987E-40AE-9899-B4ED3CBDB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3942E-315C-4617-95A2-9183677BC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69E0-E8BE-4423-AC4F-6A54F32AC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65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C6D61E-E2ED-4941-BFE8-5D72DD90FD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55C5D-8480-44C1-9122-8C4F2CE70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C3AFF-A34E-40EB-9B94-213F04058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1CDA-6D94-4C24-8A6E-D01C6289E15B}" type="datetimeFigureOut">
              <a:rPr lang="en-US" smtClean="0"/>
              <a:t>2026-09-22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5A6FE-CFF5-4218-A380-366D9A29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E8682-D984-42F8-8FF9-BD772C863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F69E0-E8BE-4423-AC4F-6A54F32AC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8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DE8C9F-6AE4-40BB-939B-7433BB9D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2ED59-155F-4801-8B69-E3BA753F2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7F6C0-DB82-457E-8765-1DDC926A7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51CDA-6D94-4C24-8A6E-D01C6289E15B}" type="datetimeFigureOut">
              <a:rPr lang="en-US" smtClean="0"/>
              <a:t>2026-09-22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7722B-2875-4F30-89FA-CB8F6F91A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4B427-8FE4-438F-A7ED-82839467A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F69E0-E8BE-4423-AC4F-6A54F32AC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49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12DD81-3699-440E-B5CD-545D34E24D5E}"/>
              </a:ext>
            </a:extLst>
          </p:cNvPr>
          <p:cNvSpPr/>
          <p:nvPr/>
        </p:nvSpPr>
        <p:spPr>
          <a:xfrm>
            <a:off x="0" y="0"/>
            <a:ext cx="12192000" cy="7850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D2ADF-F274-44AA-838C-53EEC16A948B}"/>
              </a:ext>
            </a:extLst>
          </p:cNvPr>
          <p:cNvSpPr txBox="1"/>
          <p:nvPr/>
        </p:nvSpPr>
        <p:spPr>
          <a:xfrm>
            <a:off x="0" y="0"/>
            <a:ext cx="10788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Pharmaceutical Sales &amp; Commercial Analytics – Executive Overview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A069A7-29B5-4FBF-8140-A7B8BB5FDB63}"/>
              </a:ext>
            </a:extLst>
          </p:cNvPr>
          <p:cNvSpPr/>
          <p:nvPr/>
        </p:nvSpPr>
        <p:spPr>
          <a:xfrm>
            <a:off x="180110" y="946724"/>
            <a:ext cx="1533236" cy="7850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24BD47-AE7C-441B-AB8C-8CDA06744C87}"/>
              </a:ext>
            </a:extLst>
          </p:cNvPr>
          <p:cNvSpPr txBox="1"/>
          <p:nvPr/>
        </p:nvSpPr>
        <p:spPr>
          <a:xfrm>
            <a:off x="0" y="392806"/>
            <a:ext cx="3158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Executive Commercial Overview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325319B-1F92-48A5-B564-7AC1AE95AB64}"/>
              </a:ext>
            </a:extLst>
          </p:cNvPr>
          <p:cNvSpPr/>
          <p:nvPr/>
        </p:nvSpPr>
        <p:spPr>
          <a:xfrm>
            <a:off x="1888837" y="946725"/>
            <a:ext cx="1533236" cy="7850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C51F290-9AD2-4531-9A95-FCCCFDF29158}"/>
              </a:ext>
            </a:extLst>
          </p:cNvPr>
          <p:cNvSpPr/>
          <p:nvPr/>
        </p:nvSpPr>
        <p:spPr>
          <a:xfrm>
            <a:off x="3597564" y="946725"/>
            <a:ext cx="1533236" cy="7850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8DF279-22B1-4EA1-B056-55AA63EFE714}"/>
              </a:ext>
            </a:extLst>
          </p:cNvPr>
          <p:cNvSpPr/>
          <p:nvPr/>
        </p:nvSpPr>
        <p:spPr>
          <a:xfrm>
            <a:off x="5340927" y="946725"/>
            <a:ext cx="1533236" cy="7850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E6BAF89-5F20-4954-8E92-7440D660C346}"/>
              </a:ext>
            </a:extLst>
          </p:cNvPr>
          <p:cNvSpPr/>
          <p:nvPr/>
        </p:nvSpPr>
        <p:spPr>
          <a:xfrm>
            <a:off x="7038111" y="946725"/>
            <a:ext cx="1533236" cy="7850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A1864D9-0ABF-487E-A8BD-FE544C2EF334}"/>
              </a:ext>
            </a:extLst>
          </p:cNvPr>
          <p:cNvSpPr/>
          <p:nvPr/>
        </p:nvSpPr>
        <p:spPr>
          <a:xfrm>
            <a:off x="8793018" y="946724"/>
            <a:ext cx="1533236" cy="7850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AF1E383-BEA1-4CFA-94AF-FE07586D5366}"/>
              </a:ext>
            </a:extLst>
          </p:cNvPr>
          <p:cNvSpPr/>
          <p:nvPr/>
        </p:nvSpPr>
        <p:spPr>
          <a:xfrm>
            <a:off x="10501745" y="946727"/>
            <a:ext cx="1533236" cy="7850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AEEE11EA-D943-4D12-8FFA-0DDAB8AE367B}"/>
              </a:ext>
            </a:extLst>
          </p:cNvPr>
          <p:cNvSpPr/>
          <p:nvPr/>
        </p:nvSpPr>
        <p:spPr>
          <a:xfrm>
            <a:off x="180110" y="946724"/>
            <a:ext cx="1533236" cy="346103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DC2057-56B8-4FD2-A80C-0DF7BB0AED4A}"/>
              </a:ext>
            </a:extLst>
          </p:cNvPr>
          <p:cNvSpPr txBox="1"/>
          <p:nvPr/>
        </p:nvSpPr>
        <p:spPr>
          <a:xfrm>
            <a:off x="180109" y="939500"/>
            <a:ext cx="1544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Total Revenue</a:t>
            </a:r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F85A4E91-6C8F-4C78-A7FD-E56C87673F7E}"/>
              </a:ext>
            </a:extLst>
          </p:cNvPr>
          <p:cNvSpPr/>
          <p:nvPr/>
        </p:nvSpPr>
        <p:spPr>
          <a:xfrm>
            <a:off x="1900380" y="946724"/>
            <a:ext cx="1533236" cy="346103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3F87F4-6A67-4225-8C84-5B7F80301124}"/>
              </a:ext>
            </a:extLst>
          </p:cNvPr>
          <p:cNvSpPr txBox="1"/>
          <p:nvPr/>
        </p:nvSpPr>
        <p:spPr>
          <a:xfrm>
            <a:off x="1900379" y="939500"/>
            <a:ext cx="1544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Total Profit</a:t>
            </a:r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8D8C6C53-EC6A-445F-BBFA-A3C47B227730}"/>
              </a:ext>
            </a:extLst>
          </p:cNvPr>
          <p:cNvSpPr/>
          <p:nvPr/>
        </p:nvSpPr>
        <p:spPr>
          <a:xfrm>
            <a:off x="3597565" y="946724"/>
            <a:ext cx="1533236" cy="346103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AD2BA2-BBCF-426F-88FC-257A46CBD56E}"/>
              </a:ext>
            </a:extLst>
          </p:cNvPr>
          <p:cNvSpPr txBox="1"/>
          <p:nvPr/>
        </p:nvSpPr>
        <p:spPr>
          <a:xfrm>
            <a:off x="3597564" y="939500"/>
            <a:ext cx="1544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Profit Margin %</a:t>
            </a:r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5F3B2236-BA61-417C-80A7-20F681C226DE}"/>
              </a:ext>
            </a:extLst>
          </p:cNvPr>
          <p:cNvSpPr/>
          <p:nvPr/>
        </p:nvSpPr>
        <p:spPr>
          <a:xfrm>
            <a:off x="5352470" y="946724"/>
            <a:ext cx="1533236" cy="346103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138A30-A374-48A7-8744-4836977B0CF2}"/>
              </a:ext>
            </a:extLst>
          </p:cNvPr>
          <p:cNvSpPr txBox="1"/>
          <p:nvPr/>
        </p:nvSpPr>
        <p:spPr>
          <a:xfrm>
            <a:off x="5352469" y="939500"/>
            <a:ext cx="1544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Units Sold</a:t>
            </a:r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28272783-5988-4458-9A4E-F2B33BA872FF}"/>
              </a:ext>
            </a:extLst>
          </p:cNvPr>
          <p:cNvSpPr/>
          <p:nvPr/>
        </p:nvSpPr>
        <p:spPr>
          <a:xfrm>
            <a:off x="7038112" y="946724"/>
            <a:ext cx="1533236" cy="346103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FE65B8-830E-49D3-BB5B-94A6DAE55497}"/>
              </a:ext>
            </a:extLst>
          </p:cNvPr>
          <p:cNvSpPr txBox="1"/>
          <p:nvPr/>
        </p:nvSpPr>
        <p:spPr>
          <a:xfrm>
            <a:off x="7038111" y="939500"/>
            <a:ext cx="15447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Prescription Volume</a:t>
            </a:r>
          </a:p>
        </p:txBody>
      </p:sp>
      <p:sp>
        <p:nvSpPr>
          <p:cNvPr id="32" name="Rectangle: Top Corners Rounded 31">
            <a:extLst>
              <a:ext uri="{FF2B5EF4-FFF2-40B4-BE49-F238E27FC236}">
                <a16:creationId xmlns:a16="http://schemas.microsoft.com/office/drawing/2014/main" id="{189600C2-093C-4C34-99FD-F0666E19666C}"/>
              </a:ext>
            </a:extLst>
          </p:cNvPr>
          <p:cNvSpPr/>
          <p:nvPr/>
        </p:nvSpPr>
        <p:spPr>
          <a:xfrm>
            <a:off x="8804561" y="946724"/>
            <a:ext cx="1533236" cy="346103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BCEB90-B6B3-417A-B0C3-BDF8A95BBAA6}"/>
              </a:ext>
            </a:extLst>
          </p:cNvPr>
          <p:cNvSpPr txBox="1"/>
          <p:nvPr/>
        </p:nvSpPr>
        <p:spPr>
          <a:xfrm>
            <a:off x="8804560" y="939500"/>
            <a:ext cx="1544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Sales Growth %</a:t>
            </a:r>
          </a:p>
        </p:txBody>
      </p:sp>
      <p:sp>
        <p:nvSpPr>
          <p:cNvPr id="34" name="Rectangle: Top Corners Rounded 33">
            <a:extLst>
              <a:ext uri="{FF2B5EF4-FFF2-40B4-BE49-F238E27FC236}">
                <a16:creationId xmlns:a16="http://schemas.microsoft.com/office/drawing/2014/main" id="{06513D3A-E8D9-44A5-AD4F-61C8398FE0AB}"/>
              </a:ext>
            </a:extLst>
          </p:cNvPr>
          <p:cNvSpPr/>
          <p:nvPr/>
        </p:nvSpPr>
        <p:spPr>
          <a:xfrm>
            <a:off x="10501746" y="946724"/>
            <a:ext cx="1533236" cy="346103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DEB0AF-FAED-49A1-9515-F89372A24681}"/>
              </a:ext>
            </a:extLst>
          </p:cNvPr>
          <p:cNvSpPr txBox="1"/>
          <p:nvPr/>
        </p:nvSpPr>
        <p:spPr>
          <a:xfrm>
            <a:off x="10501745" y="939500"/>
            <a:ext cx="1685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Target Achievement %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C0D9474-721B-4CC9-8572-36FF9D38F56F}"/>
              </a:ext>
            </a:extLst>
          </p:cNvPr>
          <p:cNvSpPr/>
          <p:nvPr/>
        </p:nvSpPr>
        <p:spPr>
          <a:xfrm>
            <a:off x="76200" y="1858810"/>
            <a:ext cx="6858003" cy="229986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F74BB7-13F1-4142-BA14-21193D371B72}"/>
              </a:ext>
            </a:extLst>
          </p:cNvPr>
          <p:cNvSpPr/>
          <p:nvPr/>
        </p:nvSpPr>
        <p:spPr>
          <a:xfrm>
            <a:off x="6978072" y="1858810"/>
            <a:ext cx="3523673" cy="229986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C87AA9E-9E98-4536-AFB5-322C92B19119}"/>
              </a:ext>
            </a:extLst>
          </p:cNvPr>
          <p:cNvSpPr/>
          <p:nvPr/>
        </p:nvSpPr>
        <p:spPr>
          <a:xfrm>
            <a:off x="76200" y="4285668"/>
            <a:ext cx="2990273" cy="24938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2ED0E84-B8A2-4D39-BCE2-FDFD3C0D1A78}"/>
              </a:ext>
            </a:extLst>
          </p:cNvPr>
          <p:cNvSpPr/>
          <p:nvPr/>
        </p:nvSpPr>
        <p:spPr>
          <a:xfrm>
            <a:off x="3117271" y="4285668"/>
            <a:ext cx="2990274" cy="24938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D1111E0-C314-48F9-90FD-D6F4A883451B}"/>
              </a:ext>
            </a:extLst>
          </p:cNvPr>
          <p:cNvSpPr/>
          <p:nvPr/>
        </p:nvSpPr>
        <p:spPr>
          <a:xfrm>
            <a:off x="6162960" y="4285668"/>
            <a:ext cx="2888676" cy="24938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871FBCF-7596-4510-AD5B-D2D706308A89}"/>
              </a:ext>
            </a:extLst>
          </p:cNvPr>
          <p:cNvSpPr/>
          <p:nvPr/>
        </p:nvSpPr>
        <p:spPr>
          <a:xfrm>
            <a:off x="9125527" y="4285669"/>
            <a:ext cx="2990273" cy="24938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01689C-8AB4-47A3-BC42-10F93DE9C63C}"/>
              </a:ext>
            </a:extLst>
          </p:cNvPr>
          <p:cNvSpPr txBox="1"/>
          <p:nvPr/>
        </p:nvSpPr>
        <p:spPr>
          <a:xfrm>
            <a:off x="198582" y="1855725"/>
            <a:ext cx="23075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Monthly Revenue VS Profit Trend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BA7B51-48BC-4A63-B9CD-0ECAC7ED39A8}"/>
              </a:ext>
            </a:extLst>
          </p:cNvPr>
          <p:cNvSpPr txBox="1"/>
          <p:nvPr/>
        </p:nvSpPr>
        <p:spPr>
          <a:xfrm>
            <a:off x="7056585" y="1855725"/>
            <a:ext cx="23075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Revenue VS Target Comparison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0EAA5C-30B6-43DE-A7D3-3AE0B1F277B1}"/>
              </a:ext>
            </a:extLst>
          </p:cNvPr>
          <p:cNvSpPr txBox="1"/>
          <p:nvPr/>
        </p:nvSpPr>
        <p:spPr>
          <a:xfrm>
            <a:off x="198582" y="4294132"/>
            <a:ext cx="17995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Revenue By Therapy Area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430D8E-E24A-40DC-AC22-A25A98CF394E}"/>
              </a:ext>
            </a:extLst>
          </p:cNvPr>
          <p:cNvSpPr txBox="1"/>
          <p:nvPr/>
        </p:nvSpPr>
        <p:spPr>
          <a:xfrm>
            <a:off x="3198092" y="4302599"/>
            <a:ext cx="2017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Top 10 Products By Revenue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DA04A8-39BC-42D0-91E4-F195DACDBEE4}"/>
              </a:ext>
            </a:extLst>
          </p:cNvPr>
          <p:cNvSpPr txBox="1"/>
          <p:nvPr/>
        </p:nvSpPr>
        <p:spPr>
          <a:xfrm>
            <a:off x="6298816" y="4302599"/>
            <a:ext cx="17583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Sales &amp; Profit By Region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904D22-DB16-460D-96FE-8C9F26B6F904}"/>
              </a:ext>
            </a:extLst>
          </p:cNvPr>
          <p:cNvSpPr txBox="1"/>
          <p:nvPr/>
        </p:nvSpPr>
        <p:spPr>
          <a:xfrm>
            <a:off x="9192108" y="4333381"/>
            <a:ext cx="2923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Revenue Contribution By Product Category</a:t>
            </a:r>
          </a:p>
        </p:txBody>
      </p:sp>
    </p:spTree>
    <p:extLst>
      <p:ext uri="{BB962C8B-B14F-4D97-AF65-F5344CB8AC3E}">
        <p14:creationId xmlns:p14="http://schemas.microsoft.com/office/powerpoint/2010/main" val="3959654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56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ANKAR GOSWAMI</dc:creator>
  <cp:lastModifiedBy>ANKAR GOSWAMI</cp:lastModifiedBy>
  <cp:revision>5</cp:revision>
  <dcterms:created xsi:type="dcterms:W3CDTF">2026-09-22T07:33:04Z</dcterms:created>
  <dcterms:modified xsi:type="dcterms:W3CDTF">2026-09-22T08:23:24Z</dcterms:modified>
</cp:coreProperties>
</file>